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2df35e1c-25c8-eff1-d1c0-fda31cf91252}">
          <p14:sldIdLst>
            <p14:sldId id="256"/>
          </p14:sldIdLst>
        </p14:section>
        <p14:section name="Build" id="{87382b14-c259-0b03-0c4f-e1bbb321b669}">
          <p14:sldIdLst>
            <p14:sldId id="257"/>
            <p14:sldId id="258"/>
            <p14:sldId id="259"/>
          </p14:sldIdLst>
        </p14:section>
        <p14:section name="Audit" id="{64ec7007-ac41-8386-159d-376dad706245}">
          <p14:sldIdLst>
            <p14:sldId id="260"/>
            <p14:sldId id="261"/>
            <p14:sldId id="262"/>
            <p14:sldId id="263"/>
          </p14:sldIdLst>
        </p14:section>
        <p14:section name="Wrap-up" id="{e7cebeb4-2689-c63e-46f9-434ac3566ec3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Test-set performance (spam = positive class)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14213D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Linear 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0.863</c:v>
                </c:pt>
                <c:pt idx="2">
                  <c:v>0.938</c:v>
                </c:pt>
                <c:pt idx="3">
                  <c:v>0.973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Linear 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0.802</c:v>
                </c:pt>
                <c:pt idx="1">
                  <c:v>0.916</c:v>
                </c:pt>
                <c:pt idx="2">
                  <c:v>0.916</c:v>
                </c:pt>
                <c:pt idx="3">
                  <c:v>0.84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F1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Linear 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0.89</c:v>
                </c:pt>
                <c:pt idx="1">
                  <c:v>0.889</c:v>
                </c:pt>
                <c:pt idx="2">
                  <c:v>0.927</c:v>
                </c:pt>
                <c:pt idx="3">
                  <c:v>0.902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6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77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4213D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4213D"/>
                </a:solidFill>
                <a:latin typeface="+mn-lt"/>
              </a:rPr>
              <a:t>F1-score before vs after the fix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 fix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Linear 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0.89</c:v>
                </c:pt>
                <c:pt idx="1">
                  <c:v>0.889</c:v>
                </c:pt>
                <c:pt idx="2">
                  <c:v>0.927</c:v>
                </c:pt>
                <c:pt idx="3">
                  <c:v>0.902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 fix</c:v>
                </c:pt>
              </c:strCache>
            </c:strRef>
          </c:tx>
          <c:spPr>
            <a:solidFill>
              <a:srgbClr val="C1121F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Naive Bayes</c:v>
                  </c:pt>
                  <c:pt idx="1">
                    <c:v>Logistic Reg.</c:v>
                  </c:pt>
                  <c:pt idx="2">
                    <c:v>Linear SVM</c:v>
                  </c:pt>
                  <c:pt idx="3">
                    <c:v>Random Forest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0.913</c:v>
                </c:pt>
                <c:pt idx="1">
                  <c:v>0.947</c:v>
                </c:pt>
                <c:pt idx="2">
                  <c:v>0.969</c:v>
                </c:pt>
                <c:pt idx="3">
                  <c:v>0.956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.8"/>
        </c:scaling>
        <c:delete val="0"/>
        <c:axPos val="l"/>
        <c:majorGridlines>
          <c:spPr>
            <a:ln w="6350" cap="flat">
              <a:solidFill>
                <a:srgbClr val="E3E7EE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77D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C677D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2" y="274320"/>
            <a:ext cx="2103120" cy="70361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</a:rPr>
              <a:t>SMS Spam Detection  |  NLP  |  SAII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TITLE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228600"/>
            <a:ext cx="2286000" cy="88649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2" y="320040"/>
            <a:ext cx="2103120" cy="70361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1325880"/>
            <a:ext cx="62179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4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45752" y="228600"/>
            <a:ext cx="2286000" cy="886497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/home/claude/work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7192" y="320040"/>
            <a:ext cx="2103120" cy="703617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4A261"/>
                </a:solidFill>
              </a:rPr>
              <a:t>NATURAL LANGUAGE PROCESSING  |  BUILD - AUDIT - PITCH</a:t>
            </a:r>
            <a:endParaRPr lang="en-US" sz="1400" dirty="0"/>
          </a:p>
        </p:txBody>
      </p:sp>
      <p:sp>
        <p:nvSpPr>
          <p:cNvPr id="3" name="Text 1"/>
          <p:cNvSpPr/>
          <p:nvPr>
            <p:ph idx="102" type="title" hasCustomPrompt="1"/>
          </p:nvPr>
        </p:nvSpPr>
        <p:spPr>
          <a:xfrm>
            <a:off x="548640" y="1325880"/>
            <a:ext cx="6217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SMS Spam Detection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23160"/>
            <a:ext cx="6035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1E3"/>
                </a:solidFill>
              </a:rPr>
              <a:t>using Natural Language Processing and Machine Learning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4747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Faculty: Dr. Nabanita Choudhury, Assistant Professor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93192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D1E3"/>
                </a:solidFill>
              </a:rPr>
              <a:t>BBA (Artificial Intelligence)  |  Academic Year 2026-27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223760" y="1874520"/>
            <a:ext cx="4389120" cy="914400"/>
          </a:xfrm>
          <a:prstGeom prst="roundRect">
            <a:avLst>
              <a:gd name="adj" fmla="val 15000"/>
            </a:avLst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52360" y="187452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Hey, are we still meeting for lunch tomorrow at 1pm?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223760" y="28529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HAM  |  spam probability 0.00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223760" y="3291840"/>
            <a:ext cx="4389120" cy="1188720"/>
          </a:xfrm>
          <a:prstGeom prst="roundRect">
            <a:avLst>
              <a:gd name="adj" fmla="val 11538"/>
            </a:avLst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452360" y="329184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URGENT! You have won a 1 week FREE membership in our £100,000 Prize Jackpot! Txt WORD to 81010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223760" y="454456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SPAM  |  spam probability 0.99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12064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Sarvesh Wani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</a:rPr>
              <a:t>PRN 25030422140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34256" y="512064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8576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Sanando Maitra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608576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</a:rPr>
              <a:t>PRN 25030422105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119872" y="5120640"/>
            <a:ext cx="3520440" cy="1097280"/>
          </a:xfrm>
          <a:prstGeom prst="roundRect">
            <a:avLst>
              <a:gd name="adj" fmla="val 10000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94192" y="5303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Priyanshu Akshat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8394192" y="5760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</a:rPr>
              <a:t>PRN 25030422095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The problem and the data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54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The problem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Spam SMS carries scams, fake prizes and junk offers.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Goal: label every message as spam or ham (genuine) automatically.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The catch: blocking a real message can cost more than missing an ad.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4389120"/>
            <a:ext cx="4937760" cy="164592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4754880"/>
            <a:ext cx="731520" cy="73152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93776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737360" y="46634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UCI SMS Spam Collection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737360" y="5074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UK English SMS, each with a label and raw text; a well-known academic benchmark.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554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30936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5,572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real SMS messages in the raw file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8988552" y="1554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9262872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403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9262872" y="2651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duplicates removed before splitting (5,169 left)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035040" y="3840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309360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12.6%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6309360" y="4937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spam, so 6.9 : 1 ham to spam imbalance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988552" y="3840480"/>
            <a:ext cx="2651760" cy="2011680"/>
          </a:xfrm>
          <a:prstGeom prst="roundRect">
            <a:avLst>
              <a:gd name="adj" fmla="val 545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262872" y="4114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~2x</a:t>
            </a:r>
            <a:endParaRPr lang="en-US" sz="4000" dirty="0"/>
          </a:p>
        </p:txBody>
      </p:sp>
      <p:sp>
        <p:nvSpPr>
          <p:cNvPr id="21" name="Text 18"/>
          <p:cNvSpPr txBox="1"/>
          <p:nvPr/>
        </p:nvSpPr>
        <p:spPr>
          <a:xfrm>
            <a:off x="9262872" y="493776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is longer than ham (138 vs 71 characters)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Approach: the NLP pipeline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540" y="20345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Clean data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Remove 403 duplicates, leaving 5,169 messages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2212848" y="3017520"/>
            <a:ext cx="210312" cy="228600"/>
          </a:xfrm>
          <a:prstGeom prst="rightArrow">
            <a:avLst/>
          </a:prstGeom>
          <a:solidFill>
            <a:srgbClr val="8D99AE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41448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624328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4348" y="2034540"/>
            <a:ext cx="320040" cy="32004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578608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Normalise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2578608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Lowercase, tag URLs and numbers, drop punctuation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105656" y="3017520"/>
            <a:ext cx="210312" cy="228600"/>
          </a:xfrm>
          <a:prstGeom prst="rightArrow">
            <a:avLst/>
          </a:prstGeom>
          <a:solidFill>
            <a:srgbClr val="8D99AE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34256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517136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156" y="20345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471416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Tokenise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471416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NLTK tokens, stopword removal, lemmatisation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5998464" y="3017520"/>
            <a:ext cx="210312" cy="228600"/>
          </a:xfrm>
          <a:prstGeom prst="rightArrow">
            <a:avLst/>
          </a:prstGeom>
          <a:solidFill>
            <a:srgbClr val="8D99AE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6227064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9944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9964" y="20345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6364224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TF-IDF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6364224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Unigrams + bigrams, top 3,000 features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7891272" y="3017520"/>
            <a:ext cx="210312" cy="228600"/>
          </a:xfrm>
          <a:prstGeom prst="rightArrow">
            <a:avLst/>
          </a:prstGeom>
          <a:solidFill>
            <a:srgbClr val="8D99AE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8119872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8302752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2772" y="2034540"/>
            <a:ext cx="320040" cy="32004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257032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Train</a:t>
            </a:r>
            <a:endParaRPr lang="en-US" sz="1600" dirty="0"/>
          </a:p>
        </p:txBody>
      </p:sp>
      <p:sp>
        <p:nvSpPr>
          <p:cNvPr id="31" name="Text 24"/>
          <p:cNvSpPr txBox="1"/>
          <p:nvPr/>
        </p:nvSpPr>
        <p:spPr>
          <a:xfrm>
            <a:off x="8257032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Stratified 80/20 split, 4 models, seed 42</a:t>
            </a:r>
            <a:endParaRPr lang="en-US" sz="1400" dirty="0"/>
          </a:p>
        </p:txBody>
      </p:sp>
      <p:sp>
        <p:nvSpPr>
          <p:cNvPr id="32" name="Shape 25"/>
          <p:cNvSpPr/>
          <p:nvPr/>
        </p:nvSpPr>
        <p:spPr>
          <a:xfrm>
            <a:off x="9784080" y="3017520"/>
            <a:ext cx="210312" cy="228600"/>
          </a:xfrm>
          <a:prstGeom prst="rightArrow">
            <a:avLst/>
          </a:prstGeom>
          <a:solidFill>
            <a:srgbClr val="8D99AE"/>
          </a:solidFill>
          <a:ln w="6350">
            <a:solidFill>
              <a:srgbClr val="8D99AE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10012680" y="1645920"/>
            <a:ext cx="1627632" cy="3017520"/>
          </a:xfrm>
          <a:prstGeom prst="roundRect">
            <a:avLst>
              <a:gd name="adj" fmla="val 6742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10195560" y="1874520"/>
            <a:ext cx="640080" cy="64008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5580" y="2034540"/>
            <a:ext cx="320040" cy="32004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10149840" y="26974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Evaluate</a:t>
            </a:r>
            <a:endParaRPr lang="en-US" sz="1600" dirty="0"/>
          </a:p>
        </p:txBody>
      </p:sp>
      <p:sp>
        <p:nvSpPr>
          <p:cNvPr id="37" name="Text 29"/>
          <p:cNvSpPr txBox="1"/>
          <p:nvPr/>
        </p:nvSpPr>
        <p:spPr>
          <a:xfrm>
            <a:off x="10149840" y="3291840"/>
            <a:ext cx="1371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Precision, recall, F1, ROC-AUC, then audit</a:t>
            </a:r>
            <a:endParaRPr lang="en-US" sz="1400" dirty="0"/>
          </a:p>
        </p:txBody>
      </p:sp>
      <p:sp>
        <p:nvSpPr>
          <p:cNvPr id="38" name="Shape 30"/>
          <p:cNvSpPr/>
          <p:nvPr/>
        </p:nvSpPr>
        <p:spPr>
          <a:xfrm>
            <a:off x="548640" y="4937760"/>
            <a:ext cx="54132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9" name="Shape 31"/>
          <p:cNvSpPr/>
          <p:nvPr/>
        </p:nvSpPr>
        <p:spPr>
          <a:xfrm>
            <a:off x="777240" y="5257800"/>
            <a:ext cx="548640" cy="54864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400" y="5394960"/>
            <a:ext cx="274320" cy="27432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554480" y="5120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Leakage-safe</a:t>
            </a:r>
            <a:endParaRPr lang="en-US" sz="1600" dirty="0"/>
          </a:p>
        </p:txBody>
      </p:sp>
      <p:sp>
        <p:nvSpPr>
          <p:cNvPr id="42" name="Text 33"/>
          <p:cNvSpPr txBox="1"/>
          <p:nvPr/>
        </p:nvSpPr>
        <p:spPr>
          <a:xfrm>
            <a:off x="1554480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Duplicates removed before the split; TF-IDF fitted on training text only.</a:t>
            </a:r>
            <a:endParaRPr lang="en-US" sz="1400" dirty="0"/>
          </a:p>
        </p:txBody>
      </p:sp>
      <p:sp>
        <p:nvSpPr>
          <p:cNvPr id="43" name="Shape 34"/>
          <p:cNvSpPr/>
          <p:nvPr/>
        </p:nvSpPr>
        <p:spPr>
          <a:xfrm>
            <a:off x="6227064" y="4937760"/>
            <a:ext cx="5413248" cy="1188720"/>
          </a:xfrm>
          <a:prstGeom prst="roundRect">
            <a:avLst>
              <a:gd name="adj" fmla="val 9231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6455664" y="5257800"/>
            <a:ext cx="548640" cy="548640"/>
          </a:xfrm>
          <a:prstGeom prst="ellipse">
            <a:avLst/>
          </a:prstGeom>
          <a:solidFill>
            <a:srgbClr val="2A9D8F"/>
          </a:solidFill>
          <a:ln w="6350">
            <a:solidFill>
              <a:srgbClr val="2A9D8F"/>
            </a:solidFill>
            <a:prstDash val="solid"/>
          </a:ln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92824" y="5394960"/>
            <a:ext cx="274320" cy="274320"/>
          </a:xfrm>
          <a:prstGeom prst="rect">
            <a:avLst/>
          </a:prstGeom>
        </p:spPr>
      </p:pic>
      <p:sp>
        <p:nvSpPr>
          <p:cNvPr id="46" name="Text 36"/>
          <p:cNvSpPr txBox="1"/>
          <p:nvPr/>
        </p:nvSpPr>
        <p:spPr>
          <a:xfrm>
            <a:off x="7232904" y="51206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Imbalance-aware</a:t>
            </a:r>
            <a:endParaRPr lang="en-US" sz="1600" dirty="0"/>
          </a:p>
        </p:txBody>
      </p:sp>
      <p:sp>
        <p:nvSpPr>
          <p:cNvPr id="47" name="Text 37"/>
          <p:cNvSpPr txBox="1"/>
          <p:nvPr/>
        </p:nvSpPr>
        <p:spPr>
          <a:xfrm>
            <a:off x="7232904" y="54406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Balanced class weights, judged on precision / recall / F1, not accuracy alone.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Four models, one clear winner</a:t>
            </a:r>
            <a:endParaRPr lang="en-US" sz="3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463040"/>
          <a:ext cx="70408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85216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</a:rPr>
              <a:t>Held-out test set: 1,034 messages (131 spam), threshold 0.50. Axis starts at 0.60.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955280" y="1463040"/>
            <a:ext cx="3685032" cy="301752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18388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4A261"/>
                </a:solidFill>
              </a:rPr>
              <a:t>BEST OVERALL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83880" y="19659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chemeClr val="bg1"/>
                </a:solidFill>
              </a:rPr>
              <a:t>Linear SVM</a:t>
            </a:r>
            <a:endParaRPr lang="en-US" sz="2800" dirty="0"/>
          </a:p>
        </p:txBody>
      </p:sp>
      <p:sp>
        <p:nvSpPr>
          <p:cNvPr id="8" name="Text 5"/>
          <p:cNvSpPr txBox="1"/>
          <p:nvPr/>
        </p:nvSpPr>
        <p:spPr>
          <a:xfrm>
            <a:off x="818388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98.2%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818388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accuracy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875520" y="26974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0.927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987552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F1-score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18388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0.994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818388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ROC-AUC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9875520" y="3429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0.015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87552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1E3"/>
                </a:solidFill>
              </a:rPr>
              <a:t>Brier (lower is better)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183880" y="411480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4A261"/>
                </a:solidFill>
              </a:rPr>
              <a:t>8 false alarms  |  11 missed spam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4663440"/>
            <a:ext cx="3685032" cy="13716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183880" y="48463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Naive Bayes: 0 false alarms but 26 spam missed. Logistic Regression: 19 false alarms. Random Forest: 21 spam missed.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Audit: who gets it wrong?</a:t>
            </a:r>
            <a:endParaRPr lang="en-US" sz="3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051560"/>
                <a:gridCol w="1051560"/>
                <a:gridCol w="1051560"/>
                <a:gridCol w="1051560"/>
              </a:tblGrid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Text group (spam n)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Naive Bayes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Logistic Reg.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Linear SVM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</a:rPr>
                        <a:t>All test messages (131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0.80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0.92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Short, &lt;=42 chars (2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0.00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Medium, 43-91 chars (12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0.33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Long, &gt;91 chars (117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0.85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0.95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0.91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Casual / slang (37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0.70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5E54"/>
                          </a:solidFill>
                        </a:rPr>
                        <a:t>0.89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5F0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0.84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</a:rPr>
                        <a:t>Plain text (6 spam)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8A4B08"/>
                          </a:solidFill>
                        </a:rPr>
                        <a:t>0.67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B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B1C26"/>
                          </a:solidFill>
                        </a:rPr>
                        <a:t>0.50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D7DA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394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Recall = share of real spam caught.  Red &lt; 0.60  |  amber 0.60-0.84  |  green &gt;= 0.85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7680960" y="1554480"/>
            <a:ext cx="3959352" cy="2240280"/>
          </a:xfrm>
          <a:prstGeom prst="roundRect">
            <a:avLst>
              <a:gd name="adj" fmla="val 489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909560" y="1783080"/>
            <a:ext cx="548640" cy="548640"/>
          </a:xfrm>
          <a:prstGeom prst="ellipse">
            <a:avLst/>
          </a:prstGeom>
          <a:solidFill>
            <a:srgbClr val="C1121F"/>
          </a:solidFill>
          <a:ln w="6350">
            <a:solidFill>
              <a:srgbClr val="C1121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0" y="1920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595360" y="178308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False alarms hit short, plain chat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909560" y="2606040"/>
            <a:ext cx="3520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Logistic Regression precision drops to 0.08 on short and 0.21 on plain messages. "Call me when u're done" gets flagged.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7680960" y="3977640"/>
            <a:ext cx="3959352" cy="2057400"/>
          </a:xfrm>
          <a:prstGeom prst="roundRect">
            <a:avLst>
              <a:gd name="adj" fmla="val 5333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7909560" y="4206240"/>
            <a:ext cx="548640" cy="548640"/>
          </a:xfrm>
          <a:prstGeom prst="ellipse">
            <a:avLst/>
          </a:prstGeom>
          <a:solidFill>
            <a:srgbClr val="F4A261"/>
          </a:solidFill>
          <a:ln w="635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6720" y="4343400"/>
            <a:ext cx="274320" cy="2743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595360" y="4206240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Missed spam hides in medium and slang texts</a:t>
            </a:r>
            <a:endParaRPr lang="en-US" sz="1700" dirty="0"/>
          </a:p>
        </p:txBody>
      </p:sp>
      <p:sp>
        <p:nvSpPr>
          <p:cNvPr id="14" name="Text 9"/>
          <p:cNvSpPr txBox="1"/>
          <p:nvPr/>
        </p:nvSpPr>
        <p:spPr>
          <a:xfrm>
            <a:off x="7909560" y="502920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 catches just 0.33 of medium-length spam; Naive Bayes only 0.70 of slang spam.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Audit: what the models learned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760720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Words that push toward SPAM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228600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8600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txt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783080" y="2286000"/>
            <a:ext cx="841248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83080" y="22860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call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61488" y="2286000"/>
            <a:ext cx="1033272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61488" y="2286000"/>
            <a:ext cx="10332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mobile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931920" y="2286000"/>
            <a:ext cx="841248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31920" y="228600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free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910328" y="2286000"/>
            <a:ext cx="93726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910328" y="2286000"/>
            <a:ext cx="93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reply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2807208"/>
            <a:ext cx="93726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807208"/>
            <a:ext cx="93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claim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897380" y="2807208"/>
            <a:ext cx="93726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897380" y="2807208"/>
            <a:ext cx="93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prize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971800" y="2807208"/>
            <a:ext cx="1225296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971800" y="2807208"/>
            <a:ext cx="122529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9B1C26"/>
                </a:solidFill>
              </a:rPr>
              <a:t>ringtone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36576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9D8F"/>
                </a:solidFill>
              </a:rPr>
              <a:t>Words that push toward HAM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22960" y="416052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D5F0EA"/>
          </a:solidFill>
          <a:ln w="6350">
            <a:solidFill>
              <a:srgbClr val="D5F0E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2960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E54"/>
                </a:solidFill>
              </a:rPr>
              <a:t>ok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783080" y="4160520"/>
            <a:ext cx="841248" cy="384048"/>
          </a:xfrm>
          <a:prstGeom prst="roundRect">
            <a:avLst>
              <a:gd name="adj" fmla="val 47619"/>
            </a:avLst>
          </a:prstGeom>
          <a:solidFill>
            <a:srgbClr val="D5F0EA"/>
          </a:solidFill>
          <a:ln w="6350">
            <a:solidFill>
              <a:srgbClr val="D5F0E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783080" y="4160520"/>
            <a:ext cx="8412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E54"/>
                </a:solidFill>
              </a:rPr>
              <a:t>home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2761488" y="4160520"/>
            <a:ext cx="937260" cy="384048"/>
          </a:xfrm>
          <a:prstGeom prst="roundRect">
            <a:avLst>
              <a:gd name="adj" fmla="val 47619"/>
            </a:avLst>
          </a:prstGeom>
          <a:solidFill>
            <a:srgbClr val="D5F0EA"/>
          </a:solidFill>
          <a:ln w="6350">
            <a:solidFill>
              <a:srgbClr val="D5F0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761488" y="4160520"/>
            <a:ext cx="9372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E54"/>
                </a:solidFill>
              </a:rPr>
              <a:t>later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835908" y="416052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D5F0EA"/>
          </a:solidFill>
          <a:ln w="6350">
            <a:solidFill>
              <a:srgbClr val="D5F0E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835908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E54"/>
                </a:solidFill>
              </a:rPr>
              <a:t>da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796028" y="4160520"/>
            <a:ext cx="822960" cy="384048"/>
          </a:xfrm>
          <a:prstGeom prst="roundRect">
            <a:avLst>
              <a:gd name="adj" fmla="val 47619"/>
            </a:avLst>
          </a:prstGeom>
          <a:solidFill>
            <a:srgbClr val="D5F0EA"/>
          </a:solidFill>
          <a:ln w="6350">
            <a:solidFill>
              <a:srgbClr val="D5F0E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96028" y="416052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5E54"/>
                </a:solidFill>
              </a:rPr>
              <a:t>lor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822960" y="50292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All four models agree on these cue words (coefficients, log-ratios and feature importances).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583680" y="1554480"/>
            <a:ext cx="5056632" cy="4480560"/>
          </a:xfrm>
          <a:prstGeom prst="roundRect">
            <a:avLst>
              <a:gd name="adj" fmla="val 2449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...and that is also the weakness</a:t>
            </a:r>
            <a:endParaRPr lang="en-US" sz="17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0" y="22402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Genuine messages flagged by Logistic Regression: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0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"Call me when u're done..."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241280" y="274320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41280" y="274320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C26"/>
                </a:solidFill>
              </a:rPr>
              <a:t>p = 0.55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33832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"Are you free now?can i call now?"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10241280" y="338328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241280" y="33832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C26"/>
                </a:solidFill>
              </a:rPr>
              <a:t>p = 0.83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6858000" y="40233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chemeClr val="tx1"/>
                </a:solidFill>
              </a:rPr>
              <a:t>"I'm at work. Please call"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10241280" y="4023360"/>
            <a:ext cx="1188720" cy="384048"/>
          </a:xfrm>
          <a:prstGeom prst="roundRect">
            <a:avLst>
              <a:gd name="adj" fmla="val 47619"/>
            </a:avLst>
          </a:prstGeom>
          <a:solidFill>
            <a:srgbClr val="F8D7DA"/>
          </a:solidFill>
          <a:ln w="6350">
            <a:solidFill>
              <a:srgbClr val="F8D7DA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10241280" y="402336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B1C26"/>
                </a:solidFill>
              </a:rPr>
              <a:t>p = 0.80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858000" y="47548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Linear SVM even memorised "arsenal" (football-ticket promos), so it may not transfer to new campaigns.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Key finding: a hidden bug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tx2"/>
          </a:solidFill>
          <a:ln w="6350">
            <a:solidFill>
              <a:schemeClr val="tx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261"/>
                </a:solidFill>
              </a:rPr>
              <a:t>clean_text() - WHAT ACTUALLY RUNS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4846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text.lower()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re.sub(r'£|\$', ' CURRENCY ', text)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F4A2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re.sub(r'[^a-z\s]', ' ', text)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38328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4A261"/>
                </a:solidFill>
              </a:rPr>
              <a:t>The last line deletes every capital letter, including the URL, CURRENCY and NUM tags.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114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</a:rPr>
              <a:t>Raw SMS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3891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</a:rPr>
              <a:t>Call 09099726395 now at www.x.com for £100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920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D99AE"/>
                </a:solidFill>
              </a:rPr>
              <a:t>What the model sees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16636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4A261"/>
                </a:solidFill>
              </a:rPr>
              <a:t>call</a:t>
            </a:r>
            <a:endParaRPr lang="en-US" sz="2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309360" y="1554480"/>
          <a:ext cx="5330952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309360" y="5257800"/>
            <a:ext cx="5330952" cy="502920"/>
          </a:xfrm>
          <a:prstGeom prst="roundRect">
            <a:avLst>
              <a:gd name="adj" fmla="val 21818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492240" y="5257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Linear SVM: F1 0.927 to 0.969, false alarms 8 to 1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6309360" y="5852160"/>
            <a:ext cx="5330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C677D"/>
                </a:solidFill>
              </a:rPr>
              <a:t>Test run with lowercase placeholders; app unchanged. Axis starts at 0.80.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Honest limitation: tiny subgroups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2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messages in the short-text group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One miss moves recall by 50 points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334256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608576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6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4608576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messages in the plain-text group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One miss moves recall by 17 points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19872" y="1554480"/>
            <a:ext cx="352044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94192" y="16916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12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8394192" y="25603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messages in the medium group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One miss moves recall by 8 points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31920"/>
            <a:ext cx="541324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4178808"/>
            <a:ext cx="548640" cy="54864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4315968"/>
            <a:ext cx="274320" cy="27432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1554480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Dated, UK-centric, English-only data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554480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Modern delivery and bank-link scams are not represented.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227064" y="3931920"/>
            <a:ext cx="541324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455664" y="4178808"/>
            <a:ext cx="548640" cy="54864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2824" y="4315968"/>
            <a:ext cx="274320" cy="27432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32904" y="405993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One random split, no confidence intervals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232904" y="43708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Small gaps between models should not be over-read.</a:t>
            </a:r>
            <a:endParaRPr lang="en-US" sz="1400" dirty="0"/>
          </a:p>
        </p:txBody>
      </p:sp>
      <p:sp>
        <p:nvSpPr>
          <p:cNvPr id="22" name="Shape 18"/>
          <p:cNvSpPr/>
          <p:nvPr/>
        </p:nvSpPr>
        <p:spPr>
          <a:xfrm>
            <a:off x="548640" y="5120640"/>
            <a:ext cx="541324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77240" y="5367528"/>
            <a:ext cx="548640" cy="54864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5504688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554480" y="5248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Explanations are proxies, not SHAP / LIME</a:t>
            </a:r>
            <a:endParaRPr lang="en-US" sz="1500" dirty="0"/>
          </a:p>
        </p:txBody>
      </p:sp>
      <p:sp>
        <p:nvSpPr>
          <p:cNvPr id="26" name="Text 21"/>
          <p:cNvSpPr txBox="1"/>
          <p:nvPr/>
        </p:nvSpPr>
        <p:spPr>
          <a:xfrm>
            <a:off x="1554480" y="55595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Random Forest has no signed weights, so direction is inferred.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6227064" y="5120640"/>
            <a:ext cx="5413248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 w="6350">
            <a:solidFill>
              <a:schemeClr val="bg2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6455664" y="5367528"/>
            <a:ext cx="548640" cy="548640"/>
          </a:xfrm>
          <a:prstGeom prst="ellipse">
            <a:avLst/>
          </a:prstGeom>
          <a:solidFill>
            <a:srgbClr val="14213D"/>
          </a:solidFill>
          <a:ln w="6350">
            <a:solidFill>
              <a:srgbClr val="14213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2824" y="5504688"/>
            <a:ext cx="274320" cy="274320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7232904" y="5248656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Vocabulary lock-in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7232904" y="55595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Spam that avoids the learned promo words looks like ham.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365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Conclusion and next steps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035040" cy="3840480"/>
          </a:xfrm>
          <a:prstGeom prst="roundRect">
            <a:avLst>
              <a:gd name="adj" fmla="val 2857"/>
            </a:avLst>
          </a:prstGeom>
          <a:solidFill>
            <a:schemeClr val="accent5"/>
          </a:solidFill>
          <a:ln w="6350">
            <a:solidFill>
              <a:schemeClr val="accent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783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</a:rPr>
              <a:t>RECOMMENDATION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4884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Linear SVM, after fixing the placeholder bug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200400"/>
            <a:ext cx="5486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Default choice: best F1 (0.927, 0.969 after the fix) and best calibration (Brier 0.015).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Naive Bayes if a false alarm is unacceptable (0 false positives).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Logistic Regression if a missed spam is the bigger risk (recall 0.92).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858000" y="17830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261"/>
                </a:solidFill>
              </a:rPr>
              <a:t>NEXT STEPS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0" y="2194560"/>
            <a:ext cx="548640" cy="548640"/>
          </a:xfrm>
          <a:prstGeom prst="ellipse">
            <a:avLst/>
          </a:prstGeom>
          <a:solidFill>
            <a:srgbClr val="F4A261"/>
          </a:solidFill>
          <a:ln w="6350">
            <a:solidFill>
              <a:srgbClr val="F4A26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95160" y="233172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7635240" y="219456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Fix URL, currency and number placeholders in the app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858000" y="3017520"/>
            <a:ext cx="548640" cy="548640"/>
          </a:xfrm>
          <a:prstGeom prst="ellipse">
            <a:avLst/>
          </a:prstGeom>
          <a:solidFill>
            <a:srgbClr val="F4A261"/>
          </a:solidFill>
          <a:ln w="6350">
            <a:solidFill>
              <a:srgbClr val="F4A261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160" y="3154680"/>
            <a:ext cx="274320" cy="27432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635240" y="301752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Add cross-validation and confidence intervals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858000" y="3840480"/>
            <a:ext cx="548640" cy="548640"/>
          </a:xfrm>
          <a:prstGeom prst="ellipse">
            <a:avLst/>
          </a:prstGeom>
          <a:solidFill>
            <a:srgbClr val="F4A261"/>
          </a:solidFill>
          <a:ln w="6350">
            <a:solidFill>
              <a:srgbClr val="F4A26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160" y="39776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7635240" y="384048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Train on newer, larger SMS data with modern scams</a:t>
            </a:r>
            <a:endParaRPr lang="en-US" sz="1500" dirty="0"/>
          </a:p>
        </p:txBody>
      </p:sp>
      <p:sp>
        <p:nvSpPr>
          <p:cNvPr id="17" name="Shape 12"/>
          <p:cNvSpPr/>
          <p:nvPr/>
        </p:nvSpPr>
        <p:spPr>
          <a:xfrm>
            <a:off x="6858000" y="4663440"/>
            <a:ext cx="548640" cy="548640"/>
          </a:xfrm>
          <a:prstGeom prst="ellipse">
            <a:avLst/>
          </a:prstGeom>
          <a:solidFill>
            <a:srgbClr val="F4A261"/>
          </a:solidFill>
          <a:ln w="6350">
            <a:solidFill>
              <a:srgbClr val="F4A261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4800600"/>
            <a:ext cx="274320" cy="2743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635240" y="4663440"/>
            <a:ext cx="3977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Try embeddings / BERT; keep a human in the loop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548640" y="56692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4A261"/>
                </a:solidFill>
              </a:rPr>
              <a:t>Thank you  |  Questions?</a:t>
            </a: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II Spam Audit">
  <a:themeElements>
    <a:clrScheme name="SAII Spam Audit">
      <a:dk1>
        <a:srgbClr val="1F2937"/>
      </a:dk1>
      <a:lt1>
        <a:srgbClr val="FFFFFF"/>
      </a:lt1>
      <a:dk2>
        <a:srgbClr val="14213D"/>
      </a:dk2>
      <a:lt2>
        <a:srgbClr val="F3F5F9"/>
      </a:lt2>
      <a:accent1>
        <a:srgbClr val="C1121F"/>
      </a:accent1>
      <a:accent2>
        <a:srgbClr val="2A9D8F"/>
      </a:accent2>
      <a:accent3>
        <a:srgbClr val="F4A261"/>
      </a:accent3>
      <a:accent4>
        <a:srgbClr val="5C677D"/>
      </a:accent4>
      <a:accent5>
        <a:srgbClr val="233659"/>
      </a:accent5>
      <a:accent6>
        <a:srgbClr val="8D99AE"/>
      </a:accent6>
      <a:hlink>
        <a:srgbClr val="C1121F"/>
      </a:hlink>
      <a:folHlink>
        <a:srgbClr val="5C677D"/>
      </a:folHlink>
    </a:clrScheme>
    <a:fontScheme name="SAII Spam Audi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SMS Spam Detection using NLP and ML</dc:title>
  <dc:subject>PptxGenJS Presentation</dc:subject>
  <dc:creator>Sarvesh Wani, Sanando Maitra, Priyanshu Akshat</dc:creator>
  <cp:lastModifiedBy>Sarvesh Wani, Sanando Maitra, Priyanshu Akshat</cp:lastModifiedBy>
  <cp:revision>1</cp:revision>
  <dcterms:created xsi:type="dcterms:W3CDTF">2026-10-07T03:53:31Z</dcterms:created>
  <dcterms:modified xsi:type="dcterms:W3CDTF">2026-10-07T03:53:31Z</dcterms:modified>
</cp:coreProperties>
</file>